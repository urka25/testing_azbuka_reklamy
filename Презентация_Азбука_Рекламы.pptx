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614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style val="26"/>
  <c:chart>
    <c:view3D>
      <c:perspective val="30"/>
    </c:view3D>
    <c:plotArea>
      <c:layout>
        <c:manualLayout>
          <c:layoutTarget val="inner"/>
          <c:xMode val="edge"/>
          <c:yMode val="edge"/>
          <c:x val="8.763608154760949E-2"/>
          <c:y val="5.0423452768729664E-2"/>
          <c:w val="0.31965106434821972"/>
          <c:h val="0.82140275462309909"/>
        </c:manualLayout>
      </c:layout>
      <c:bar3DChart>
        <c:barDir val="col"/>
        <c:grouping val="standard"/>
        <c:ser>
          <c:idx val="0"/>
          <c:order val="0"/>
          <c:tx>
            <c:strRef>
              <c:f>Лист1!$A$2</c:f>
              <c:strCache>
                <c:ptCount val="1"/>
                <c:pt idx="0">
                  <c:v>Критических дефектов 3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Всего дефектов 39</c:v>
                </c:pt>
              </c:strCache>
            </c:strRef>
          </c:tx>
          <c:spPr>
            <a:solidFill>
              <a:srgbClr val="FF000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Лист1!$B$3</c:f>
              <c:numCache>
                <c:formatCode>General</c:formatCode>
                <c:ptCount val="1"/>
                <c:pt idx="0">
                  <c:v>39</c:v>
                </c:pt>
              </c:numCache>
            </c:numRef>
          </c:val>
        </c:ser>
        <c:ser>
          <c:idx val="2"/>
          <c:order val="2"/>
          <c:tx>
            <c:strRef>
              <c:f>Лист1!$A$4</c:f>
              <c:strCache>
                <c:ptCount val="1"/>
                <c:pt idx="0">
                  <c:v>Автоматизированные тесты 52</c:v>
                </c:pt>
              </c:strCache>
            </c:strRef>
          </c:tx>
          <c:dPt>
            <c:idx val="0"/>
            <c:spPr>
              <a:solidFill>
                <a:srgbClr val="92D050"/>
              </a:solidFill>
            </c:spPr>
          </c:dPt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Лист1!$B$4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Ручные тест-кейсы 23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Лист1!$B$1</c:f>
              <c:strCache>
                <c:ptCount val="1"/>
                <c:pt idx="0">
                  <c:v>Тестирование в цифрах</c:v>
                </c:pt>
              </c:strCache>
            </c:strRef>
          </c:cat>
          <c:val>
            <c:numRef>
              <c:f>Лист1!$B$5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shape val="cone"/>
        <c:axId val="129362944"/>
        <c:axId val="129721088"/>
        <c:axId val="129696640"/>
      </c:bar3DChart>
      <c:catAx>
        <c:axId val="129362944"/>
        <c:scaling>
          <c:orientation val="minMax"/>
        </c:scaling>
        <c:axPos val="b"/>
        <c:tickLblPos val="nextTo"/>
        <c:crossAx val="129721088"/>
        <c:crosses val="autoZero"/>
        <c:auto val="1"/>
        <c:lblAlgn val="ctr"/>
        <c:lblOffset val="100"/>
      </c:catAx>
      <c:valAx>
        <c:axId val="129721088"/>
        <c:scaling>
          <c:orientation val="minMax"/>
        </c:scaling>
        <c:axPos val="l"/>
        <c:majorGridlines/>
        <c:numFmt formatCode="General" sourceLinked="1"/>
        <c:tickLblPos val="nextTo"/>
        <c:crossAx val="129362944"/>
        <c:crosses val="autoZero"/>
        <c:crossBetween val="between"/>
      </c:valAx>
      <c:serAx>
        <c:axId val="129696640"/>
        <c:scaling>
          <c:orientation val="minMax"/>
        </c:scaling>
        <c:axPos val="b"/>
        <c:tickLblPos val="nextTo"/>
        <c:crossAx val="129721088"/>
        <c:crosses val="autoZero"/>
      </c:serAx>
    </c:plotArea>
    <c:legend>
      <c:legendPos val="r"/>
      <c:layout>
        <c:manualLayout>
          <c:xMode val="edge"/>
          <c:yMode val="edge"/>
          <c:x val="0.71398701374583695"/>
          <c:y val="3.9711713560234958E-2"/>
          <c:w val="0.25759390046358155"/>
          <c:h val="0.47757962502244244"/>
        </c:manualLayout>
      </c:layout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f.azbukar.beget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28794" y="571480"/>
            <a:ext cx="7000924" cy="571504"/>
          </a:xfrm>
        </p:spPr>
        <p:txBody>
          <a:bodyPr>
            <a:noAutofit/>
          </a:bodyPr>
          <a:lstStyle/>
          <a:p>
            <a:r>
              <a:rPr lang="ru-RU" sz="3200" dirty="0" smtClean="0"/>
              <a:t>"Итоговый отчет о тестировании"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85984" y="5929330"/>
            <a:ext cx="6172200" cy="714380"/>
          </a:xfrm>
        </p:spPr>
        <p:txBody>
          <a:bodyPr>
            <a:normAutofit lnSpcReduction="10000"/>
          </a:bodyPr>
          <a:lstStyle/>
          <a:p>
            <a:r>
              <a:rPr lang="ru-RU" b="0" dirty="0" smtClean="0"/>
              <a:t>Сайт «Азбука рекламы» </a:t>
            </a:r>
            <a:r>
              <a:rPr lang="ru-RU" dirty="0" smtClean="0"/>
              <a:t>(</a:t>
            </a:r>
            <a:r>
              <a:rPr lang="ru-RU" dirty="0" smtClean="0">
                <a:hlinkClick r:id="rId2"/>
              </a:rPr>
              <a:t>http://f.azbukar.beget.tech/</a:t>
            </a:r>
            <a:r>
              <a:rPr lang="ru-RU" dirty="0" smtClean="0"/>
              <a:t>)</a:t>
            </a:r>
          </a:p>
          <a:p>
            <a:r>
              <a:rPr lang="ru-RU" dirty="0" err="1" smtClean="0"/>
              <a:t>Тестировщик</a:t>
            </a:r>
            <a:r>
              <a:rPr lang="ru-RU" dirty="0" smtClean="0"/>
              <a:t>: Фёдоров Юрий Анатольевич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Цель и методология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ru-RU" sz="2000" b="1" dirty="0" smtClean="0"/>
              <a:t>Цель:</a:t>
            </a:r>
            <a:r>
              <a:rPr lang="ru-RU" sz="2000" dirty="0" smtClean="0"/>
              <a:t> Проверка функциональности, UI/UX и выявление дефектов.</a:t>
            </a:r>
          </a:p>
          <a:p>
            <a:pPr lvl="1"/>
            <a:r>
              <a:rPr lang="ru-RU" sz="2000" b="1" dirty="0" smtClean="0"/>
              <a:t>Окружение:</a:t>
            </a:r>
            <a:r>
              <a:rPr lang="ru-RU" sz="2000" dirty="0" smtClean="0"/>
              <a:t> 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10 </a:t>
            </a:r>
            <a:r>
              <a:rPr lang="ru-RU" sz="2000" dirty="0" err="1" smtClean="0"/>
              <a:t>Pro</a:t>
            </a:r>
            <a:r>
              <a:rPr lang="ru-RU" sz="2000" dirty="0" smtClean="0"/>
              <a:t>, браузеры </a:t>
            </a:r>
            <a:r>
              <a:rPr lang="ru-RU" sz="2000" dirty="0" err="1" smtClean="0"/>
              <a:t>Chrome</a:t>
            </a:r>
            <a:r>
              <a:rPr lang="ru-RU" sz="2000" dirty="0" smtClean="0"/>
              <a:t>, (Тестирование </a:t>
            </a:r>
            <a:r>
              <a:rPr lang="ru-RU" sz="2000" dirty="0" err="1" smtClean="0"/>
              <a:t>юзер</a:t>
            </a:r>
            <a:r>
              <a:rPr lang="ru-RU" sz="2000" dirty="0" smtClean="0"/>
              <a:t> интерфейса главной страницы сайта) </a:t>
            </a:r>
            <a:r>
              <a:rPr lang="ru-RU" sz="2000" dirty="0" err="1" smtClean="0"/>
              <a:t>Firefox</a:t>
            </a:r>
            <a:r>
              <a:rPr lang="ru-RU" sz="2000" dirty="0" smtClean="0"/>
              <a:t>, </a:t>
            </a:r>
            <a:r>
              <a:rPr lang="ru-RU" sz="2000" dirty="0" err="1" smtClean="0"/>
              <a:t>Яндекс.Браузер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Методология:</a:t>
            </a:r>
            <a:r>
              <a:rPr lang="ru-RU" sz="2000" dirty="0" smtClean="0"/>
              <a:t> Тестирование проведено в соответствии с </a:t>
            </a:r>
            <a:r>
              <a:rPr lang="ru-RU" sz="2000" dirty="0" err="1" smtClean="0"/>
              <a:t>Тест-планом</a:t>
            </a:r>
            <a:r>
              <a:rPr lang="ru-RU" sz="2000" dirty="0" smtClean="0"/>
              <a:t> и </a:t>
            </a:r>
            <a:r>
              <a:rPr lang="ru-RU" sz="2000" dirty="0" err="1" smtClean="0"/>
              <a:t>Чек-листом</a:t>
            </a:r>
            <a:r>
              <a:rPr lang="ru-RU" sz="2000" dirty="0" smtClean="0"/>
              <a:t>. Использованы ручные проверки (23 </a:t>
            </a:r>
            <a:r>
              <a:rPr lang="ru-RU" sz="2000" dirty="0" err="1" smtClean="0"/>
              <a:t>тест-кейса</a:t>
            </a:r>
            <a:r>
              <a:rPr lang="ru-RU" sz="2000" dirty="0" smtClean="0"/>
              <a:t>), </a:t>
            </a:r>
            <a:r>
              <a:rPr lang="ru-RU" sz="2000" dirty="0" err="1" smtClean="0"/>
              <a:t>автотесты</a:t>
            </a:r>
            <a:r>
              <a:rPr lang="ru-RU" sz="2000" dirty="0" smtClean="0"/>
              <a:t> (52 проверки).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7467600" cy="1143000"/>
          </a:xfrm>
        </p:spPr>
        <p:txBody>
          <a:bodyPr/>
          <a:lstStyle/>
          <a:p>
            <a:r>
              <a:rPr lang="ru-RU" b="1" dirty="0" smtClean="0"/>
              <a:t>Ключевые результаты (Общая статистика)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804389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Критические проблемы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1:</a:t>
            </a:r>
            <a:r>
              <a:rPr lang="ru-RU" sz="2400" dirty="0" smtClean="0"/>
              <a:t> Избыточная нагрузка на процессор (CPU 14-16%)</a:t>
            </a:r>
            <a:endParaRPr lang="ru-RU" sz="3200" dirty="0" smtClean="0"/>
          </a:p>
          <a:p>
            <a:pPr lvl="2"/>
            <a:r>
              <a:rPr lang="ru-RU" i="1" dirty="0" smtClean="0"/>
              <a:t>Влияние:</a:t>
            </a:r>
            <a:r>
              <a:rPr lang="ru-RU" dirty="0" smtClean="0"/>
              <a:t> Риск замедления или блокировки работы на слабых устройствах.</a:t>
            </a:r>
            <a:endParaRPr lang="ru-RU" sz="2400" dirty="0" smtClean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2:</a:t>
            </a:r>
            <a:r>
              <a:rPr lang="ru-RU" sz="2400" dirty="0" smtClean="0"/>
              <a:t> Отсутствие HTTPS</a:t>
            </a:r>
            <a:endParaRPr lang="ru-RU" sz="3200" dirty="0" smtClean="0"/>
          </a:p>
          <a:p>
            <a:pPr lvl="2"/>
            <a:r>
              <a:rPr lang="ru-RU" i="1" dirty="0" smtClean="0"/>
              <a:t>Влияние:</a:t>
            </a:r>
            <a:r>
              <a:rPr lang="ru-RU" dirty="0" smtClean="0"/>
              <a:t> 44 небезопасных запроса, данные пользователей передаются в открытом виде. </a:t>
            </a:r>
            <a:r>
              <a:rPr lang="ru-RU" b="1" dirty="0" smtClean="0"/>
              <a:t>Сайт небезопасен.</a:t>
            </a: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Ключевые проблемы производительности и </a:t>
            </a:r>
            <a:r>
              <a:rPr lang="ru-RU" b="1" dirty="0" err="1" smtClean="0"/>
              <a:t>юзабилити</a:t>
            </a:r>
            <a:endParaRPr lang="ru-RU" b="1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Проблема 3:</a:t>
            </a:r>
            <a:r>
              <a:rPr lang="ru-RU" sz="2400" dirty="0" smtClean="0"/>
              <a:t> Неприемлемо долгая полная загрузка страницы (Загрузка страницы 1,64сек., полная загрузка страницы </a:t>
            </a:r>
            <a:r>
              <a:rPr lang="ru-RU" sz="2400" b="1" dirty="0" smtClean="0"/>
              <a:t>35,4 сек.</a:t>
            </a:r>
            <a:r>
              <a:rPr lang="ru-RU" sz="2400" dirty="0" smtClean="0"/>
              <a:t> при нормативе до 3 сек.)</a:t>
            </a:r>
            <a:endParaRPr lang="ru-RU" sz="3200" dirty="0" smtClean="0"/>
          </a:p>
          <a:p>
            <a:pPr lvl="1"/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lvl="1"/>
            <a:r>
              <a:rPr lang="ru-RU" sz="2400" b="1" dirty="0" smtClean="0"/>
              <a:t>Нарушение пользовательского пути:</a:t>
            </a:r>
            <a:r>
              <a:rPr lang="ru-RU" sz="2400" dirty="0" smtClean="0"/>
              <a:t> Форма обратной связи появляется только после прокрутки, что делает её неочевидной.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Проблемы навигации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 smtClean="0"/>
              <a:t>Навигация требует полной переработки</a:t>
            </a:r>
          </a:p>
          <a:p>
            <a:pPr>
              <a:buNone/>
            </a:pPr>
            <a:endParaRPr lang="ru-RU" b="1" dirty="0" smtClean="0"/>
          </a:p>
          <a:p>
            <a:pPr lvl="1"/>
            <a:r>
              <a:rPr lang="ru-RU" sz="2400" b="1" dirty="0" smtClean="0"/>
              <a:t>Меню «Услуги»:</a:t>
            </a:r>
            <a:r>
              <a:rPr lang="ru-RU" sz="2400" dirty="0" smtClean="0"/>
              <a:t> Нет подсказок о наличии подменю. Курсор при наведении на подменю меняется на текстовый, что вводит в заблуждение.</a:t>
            </a:r>
            <a:endParaRPr lang="ru-RU" sz="3200" dirty="0" smtClean="0"/>
          </a:p>
          <a:p>
            <a:pPr lvl="1"/>
            <a:r>
              <a:rPr lang="ru-RU" sz="2400" b="1" dirty="0" smtClean="0"/>
              <a:t>Центральный блок:</a:t>
            </a:r>
            <a:r>
              <a:rPr lang="ru-RU" sz="2400" dirty="0" smtClean="0"/>
              <a:t> 19 из 21 элементов работают некорректно (не кликабельны или ведут не туда).</a:t>
            </a:r>
          </a:p>
          <a:p>
            <a:pPr lvl="1"/>
            <a:r>
              <a:rPr lang="ru-RU" sz="2400" b="1" dirty="0" smtClean="0"/>
              <a:t>Ошибка в </a:t>
            </a:r>
            <a:r>
              <a:rPr lang="ru-RU" sz="2400" b="1" dirty="0" err="1" smtClean="0"/>
              <a:t>автотестах</a:t>
            </a:r>
            <a:r>
              <a:rPr lang="ru-RU" sz="2400" b="1" dirty="0" smtClean="0"/>
              <a:t>:</a:t>
            </a:r>
            <a:r>
              <a:rPr lang="ru-RU" sz="2400" dirty="0" smtClean="0"/>
              <a:t> Пункт «Реклама на окнах» ведет на неверную страницу.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err="1" smtClean="0"/>
              <a:t>Кросс-браузерность</a:t>
            </a:r>
            <a:r>
              <a:rPr lang="ru-RU" b="1" dirty="0" smtClean="0"/>
              <a:t> и Адаптивность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Проблемы отображения:</a:t>
            </a:r>
          </a:p>
          <a:p>
            <a:pPr lvl="1"/>
            <a:r>
              <a:rPr lang="ru-RU" sz="2400" b="1" dirty="0" err="1" smtClean="0"/>
              <a:t>Кросс-браузерность</a:t>
            </a:r>
            <a:r>
              <a:rPr lang="ru-RU" sz="2400" b="1" dirty="0" smtClean="0"/>
              <a:t> (Главная страница):</a:t>
            </a:r>
            <a:r>
              <a:rPr lang="ru-RU" sz="2400" dirty="0" smtClean="0"/>
              <a:t> Анимация кубов </a:t>
            </a:r>
            <a:r>
              <a:rPr lang="ru-RU" sz="2400" b="1" dirty="0" smtClean="0"/>
              <a:t>в </a:t>
            </a:r>
            <a:r>
              <a:rPr lang="ru-RU" sz="2400" b="1" dirty="0" err="1" smtClean="0"/>
              <a:t>Firefox</a:t>
            </a:r>
            <a:r>
              <a:rPr lang="ru-RU" sz="2400" b="1" dirty="0" smtClean="0"/>
              <a:t> работает не корректно</a:t>
            </a:r>
            <a:r>
              <a:rPr lang="ru-RU" sz="2400" dirty="0" smtClean="0"/>
              <a:t>.</a:t>
            </a:r>
            <a:endParaRPr lang="ru-RU" sz="3200" dirty="0" smtClean="0"/>
          </a:p>
          <a:p>
            <a:pPr lvl="1"/>
            <a:r>
              <a:rPr lang="ru-RU" sz="2400" b="1" dirty="0" smtClean="0"/>
              <a:t>Адаптивность:</a:t>
            </a:r>
            <a:r>
              <a:rPr lang="ru-RU" sz="2400" dirty="0" smtClean="0"/>
              <a:t> На мобильных устройствах (320px), так же </a:t>
            </a:r>
            <a:r>
              <a:rPr lang="en-US" sz="2400" dirty="0" err="1" smtClean="0"/>
              <a:t>IPhone</a:t>
            </a:r>
            <a:r>
              <a:rPr lang="en-US" sz="2400" dirty="0" smtClean="0"/>
              <a:t> se2, IOS-26.3.1,</a:t>
            </a:r>
            <a:r>
              <a:rPr lang="ru-RU" sz="2400" dirty="0" smtClean="0"/>
              <a:t> форма «Задайте нам вопрос» перекрывает </a:t>
            </a:r>
            <a:r>
              <a:rPr lang="ru-RU" sz="2400" dirty="0" err="1" smtClean="0"/>
              <a:t>контент</a:t>
            </a:r>
            <a:r>
              <a:rPr lang="ru-RU" sz="2400" dirty="0" smtClean="0"/>
              <a:t>. </a:t>
            </a:r>
            <a:r>
              <a:rPr lang="ru-RU" sz="2400" b="1" dirty="0" smtClean="0"/>
              <a:t>Мобильная версия не готова.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Рекомендации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smtClean="0"/>
              <a:t>План первоочередных действий:</a:t>
            </a:r>
          </a:p>
          <a:p>
            <a:pPr>
              <a:buNone/>
            </a:pPr>
            <a:endParaRPr lang="ru-RU" b="1" dirty="0" smtClean="0"/>
          </a:p>
          <a:p>
            <a:pPr lvl="1"/>
            <a:r>
              <a:rPr lang="ru-RU" sz="2400" dirty="0" smtClean="0"/>
              <a:t>Оптимизировать код для снижения нагрузки на CPU.</a:t>
            </a:r>
            <a:endParaRPr lang="ru-RU" sz="3200" dirty="0" smtClean="0"/>
          </a:p>
          <a:p>
            <a:pPr lvl="1"/>
            <a:r>
              <a:rPr lang="ru-RU" sz="2400" dirty="0" smtClean="0"/>
              <a:t>Настроить SSL-сертификат (HTTPS) и исправить все небезопасные запросы.</a:t>
            </a:r>
            <a:endParaRPr lang="ru-RU" sz="3200" dirty="0" smtClean="0"/>
          </a:p>
          <a:p>
            <a:pPr lvl="1"/>
            <a:r>
              <a:rPr lang="ru-RU" sz="2400" dirty="0" smtClean="0"/>
              <a:t>Сократить время полной загрузки страницы с 35 до 3 секунд.</a:t>
            </a:r>
            <a:endParaRPr lang="ru-RU" sz="3200" dirty="0" smtClean="0"/>
          </a:p>
          <a:p>
            <a:pPr lvl="1"/>
            <a:r>
              <a:rPr lang="ru-RU" sz="2400" dirty="0" smtClean="0"/>
              <a:t>Исправить навигацию в Главном меню (сделать его интуитивно понятным).</a:t>
            </a:r>
          </a:p>
          <a:p>
            <a:pPr lvl="1"/>
            <a:r>
              <a:rPr lang="ru-RU" sz="2600" smtClean="0"/>
              <a:t>Исправить ссылки </a:t>
            </a:r>
            <a:r>
              <a:rPr lang="ru-RU" sz="2600" dirty="0" smtClean="0"/>
              <a:t>в центральном блоке (сделать все элементы </a:t>
            </a:r>
            <a:r>
              <a:rPr lang="ru-RU" sz="2600" dirty="0" err="1" smtClean="0"/>
              <a:t>кликабельными</a:t>
            </a:r>
            <a:r>
              <a:rPr lang="ru-RU" sz="26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82594"/>
          </a:xfrm>
        </p:spPr>
        <p:txBody>
          <a:bodyPr/>
          <a:lstStyle/>
          <a:p>
            <a:r>
              <a:rPr lang="ru-RU" b="1" dirty="0" smtClean="0"/>
              <a:t>Итоговый вывод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ru-RU" sz="2400" dirty="0" smtClean="0"/>
              <a:t>Интернет-ресурс содержит </a:t>
            </a:r>
            <a:r>
              <a:rPr lang="ru-RU" sz="2400" b="1" dirty="0" smtClean="0"/>
              <a:t>критические дефекты</a:t>
            </a:r>
            <a:r>
              <a:rPr lang="ru-RU" sz="2400" dirty="0" smtClean="0"/>
              <a:t>, нарушающие безопасность и производительность.</a:t>
            </a:r>
            <a:endParaRPr lang="ru-RU" sz="3200" dirty="0" smtClean="0"/>
          </a:p>
          <a:p>
            <a:pPr lvl="1"/>
            <a:r>
              <a:rPr lang="ru-RU" sz="2400" b="1" dirty="0" smtClean="0"/>
              <a:t>⛔ САЙТ НЕ МОЖЕТ БЫТЬ ДОПУЩЕН В ПРОДАКШЕН</a:t>
            </a:r>
            <a:endParaRPr lang="ru-RU" sz="3200" dirty="0" smtClean="0"/>
          </a:p>
          <a:p>
            <a:pPr lvl="1"/>
            <a:r>
              <a:rPr lang="ru-RU" sz="2400" b="1" dirty="0" smtClean="0"/>
              <a:t>Необходимо:</a:t>
            </a:r>
            <a:r>
              <a:rPr lang="ru-RU" sz="2400" dirty="0" smtClean="0"/>
              <a:t> Устранить все критические и значительные ошибки, после чего провести повторное тестирование.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65</TotalTime>
  <Words>132</Words>
  <PresentationFormat>Экран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Эркер</vt:lpstr>
      <vt:lpstr>"Итоговый отчет о тестировании"</vt:lpstr>
      <vt:lpstr>Цель и методология тестирования</vt:lpstr>
      <vt:lpstr>Ключевые результаты (Общая статистика)</vt:lpstr>
      <vt:lpstr>Критические проблемы</vt:lpstr>
      <vt:lpstr>Ключевые проблемы производительности и юзабилити</vt:lpstr>
      <vt:lpstr>Проблемы навигации</vt:lpstr>
      <vt:lpstr>Кросс-браузерность и Адаптивность</vt:lpstr>
      <vt:lpstr>Рекомендации</vt:lpstr>
      <vt:lpstr>Итоговый 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"Итоговый отчет о тестировании"</dc:title>
  <dc:creator>urka2003 F</dc:creator>
  <cp:lastModifiedBy>urka2003 urka2003</cp:lastModifiedBy>
  <cp:revision>13</cp:revision>
  <dcterms:created xsi:type="dcterms:W3CDTF">2026-03-15T07:33:40Z</dcterms:created>
  <dcterms:modified xsi:type="dcterms:W3CDTF">2026-03-16T13:57:38Z</dcterms:modified>
</cp:coreProperties>
</file>